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75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69911" y="1084957"/>
            <a:ext cx="6004179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Compression via Singular Value Decomposition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2404" y="2785823"/>
            <a:ext cx="7620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74902" y="2896493"/>
            <a:ext cx="29941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spcAft>
                <a:spcPts val="2100"/>
              </a:spcAft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Quantitative and Qualitative Analysis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22654" y="3572768"/>
            <a:ext cx="169854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401: Numerical Methods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646454" y="3759245"/>
            <a:ext cx="187190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2025 · Project Code: Python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138833"/>
            <a:ext cx="0" cy="2476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400" y="1138833"/>
            <a:ext cx="4031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1615083"/>
            <a:ext cx="418738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effectively can SVD-based compression reduce image storage requirements while maintaining acceptable visual quality?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400050" y="2253258"/>
            <a:ext cx="0" cy="2476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3400" y="2253258"/>
            <a:ext cx="4031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2729508"/>
            <a:ext cx="4105275" cy="1378744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SVD from scratch</a:t>
            </a:r>
            <a:endParaRPr lang="en-US" sz="1350" dirty="0"/>
          </a:p>
          <a:p>
            <a:pPr marL="85725" indent="-85725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image compression</a:t>
            </a:r>
            <a:endParaRPr lang="en-US" sz="1350" dirty="0"/>
          </a:p>
          <a:p>
            <a:pPr marL="85725" indent="-85725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trade-offs</a:t>
            </a:r>
            <a:endParaRPr lang="en-US" sz="1350" dirty="0"/>
          </a:p>
          <a:p>
            <a:pPr marL="85725" indent="-85725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visual quality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76775" y="1737717"/>
            <a:ext cx="0" cy="2476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10125" y="1737717"/>
            <a:ext cx="4031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Structure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657725" y="2194917"/>
            <a:ext cx="4187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</a:t>
            </a: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From-Scratch SVD Implementation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57725" y="2423517"/>
            <a:ext cx="4187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</a:t>
            </a: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 to Image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57725" y="2652117"/>
            <a:ext cx="4187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</a:t>
            </a: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Quantitative Analysis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57725" y="2880717"/>
            <a:ext cx="4187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</a:t>
            </a: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Qualitative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57725" y="3109317"/>
            <a:ext cx="4187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</a:t>
            </a: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Extensions &amp; Comparisons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57725" y="3337917"/>
            <a:ext cx="4187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VI.</a:t>
            </a: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 Synthesis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4567238"/>
            <a:ext cx="8382000" cy="34766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0050" y="4567238"/>
            <a:ext cx="0" cy="347662"/>
          </a:xfrm>
          <a:prstGeom prst="line">
            <a:avLst/>
          </a:prstGeom>
          <a:noFill/>
          <a:ln w="381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4350" y="4662488"/>
            <a:ext cx="831646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Constraint: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np.linalg.svd or np.linalg.eig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865" y="1764953"/>
            <a:ext cx="77362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I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03865" y="2136428"/>
            <a:ext cx="773627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From-Scratch SVD Implementation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619500" y="2060228"/>
            <a:ext cx="1905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3865" y="3326778"/>
            <a:ext cx="773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Foundations &amp; Numerical Methods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Mathematical Foundations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80852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 Value Decomposition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1809452"/>
            <a:ext cx="8549640" cy="21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 × n matrix </a:t>
            </a: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factorizes as: </a:t>
            </a: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U Σ V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229743"/>
            <a:ext cx="2717750" cy="913656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2353568"/>
            <a:ext cx="25195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(m × m)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04825" y="2540198"/>
            <a:ext cx="2519502" cy="479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Orthogonal matrix
Left singular vectors
(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U^T)U = I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213050" y="2217390"/>
            <a:ext cx="2717750" cy="938510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36875" y="2341215"/>
            <a:ext cx="25195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(m × n)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336875" y="2527846"/>
            <a:ext cx="2519502" cy="504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matrix</a:t>
            </a: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 values σ</a:t>
            </a: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σ₁ ≥ σ₂ ≥ ... ≥ 0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45101" y="2229743"/>
            <a:ext cx="2717750" cy="913656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68926" y="2353568"/>
            <a:ext cx="25195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(n × n)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168926" y="2540198"/>
            <a:ext cx="2519502" cy="479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Orthogonal matrix
Right singular vectors
(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V^T)V = I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270200"/>
            <a:ext cx="8382000" cy="39618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270200"/>
            <a:ext cx="0" cy="39618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4350" y="3365450"/>
            <a:ext cx="831646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 = eigenvectors of (A^T)A; U = eigenvectors of A(A^T); σ = √λ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1000" y="3780681"/>
            <a:ext cx="8382000" cy="347663"/>
          </a:xfrm>
          <a:prstGeom prst="rect">
            <a:avLst/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0050" y="3780681"/>
            <a:ext cx="0" cy="347662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4350" y="3875931"/>
            <a:ext cx="831646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Abel-Ruffini theorem → no closed-form eigenvalue solution for n≥5 → requires iterative numerical solver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410837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Implementation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961137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623417"/>
            <a:ext cx="0" cy="2476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400" y="1623417"/>
            <a:ext cx="31944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Layers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099667"/>
            <a:ext cx="3284190" cy="1576388"/>
          </a:xfrm>
          <a:prstGeom prst="roundRect">
            <a:avLst>
              <a:gd name="adj" fmla="val 2417"/>
            </a:avLst>
          </a:prstGeom>
          <a:solidFill>
            <a:srgbClr val="F8F9FA"/>
          </a:solidFill>
          <a:ln w="19050">
            <a:solidFill>
              <a:srgbClr val="1A472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4175" y="2233017"/>
            <a:ext cx="30778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handwritten_svd(A)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514350" y="2523530"/>
            <a:ext cx="301749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175" y="2628305"/>
            <a:ext cx="30778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Algorithm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84175" y="2890242"/>
            <a:ext cx="30778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eigenvalue solver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14350" y="3118842"/>
            <a:ext cx="301749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175" y="3204567"/>
            <a:ext cx="30778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Householder Reflections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4175" y="3399830"/>
            <a:ext cx="30778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decomposition method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3790355"/>
            <a:ext cx="3284190" cy="295275"/>
          </a:xfrm>
          <a:prstGeom prst="roundRect">
            <a:avLst>
              <a:gd name="adj" fmla="val 1290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3866555"/>
            <a:ext cx="31944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~100-200 iterations for numerical stability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855690" y="1626840"/>
            <a:ext cx="0" cy="2476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89040" y="1626840"/>
            <a:ext cx="48694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 Steps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3850928" y="2074515"/>
            <a:ext cx="0" cy="365075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60465" y="2074515"/>
            <a:ext cx="48985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Form Symmetric Matrix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60465" y="2274540"/>
            <a:ext cx="4898585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 = (A^T)A (n × n symmetric)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50928" y="2525316"/>
            <a:ext cx="0" cy="509439"/>
          </a:xfrm>
          <a:prstGeom prst="line">
            <a:avLst/>
          </a:prstGeom>
          <a:noFill/>
          <a:ln w="28575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60465" y="2525316"/>
            <a:ext cx="48985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Iterative QR Decomposition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60465" y="2725341"/>
            <a:ext cx="4898585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QR → A = RQ</a:t>
            </a:r>
            <a:endParaRPr lang="en-US" sz="75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Converges to diagonal eigenvalue matrix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850928" y="3120479"/>
            <a:ext cx="0" cy="366564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60465" y="3120479"/>
            <a:ext cx="48985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Extract Singular Values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60465" y="3320504"/>
            <a:ext cx="4898585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σi = √λi, sort descending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50928" y="3572768"/>
            <a:ext cx="0" cy="509439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60465" y="3572768"/>
            <a:ext cx="48985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Compute U Matrix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60465" y="3772793"/>
            <a:ext cx="4898585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(1/σ) · Av for each σ &gt; 0</a:t>
            </a:r>
            <a:endParaRPr lang="en-US" sz="75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sign consistency between U and V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6250" y="1764953"/>
            <a:ext cx="5711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II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16250" y="2136428"/>
            <a:ext cx="571150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to Image Data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619500" y="2055682"/>
            <a:ext cx="1905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16250" y="3375941"/>
            <a:ext cx="571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Image-to-Matrix Conversion &amp; Compression Scheme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81000" y="1437828"/>
            <a:ext cx="8382000" cy="377726"/>
          </a:xfrm>
          <a:prstGeom prst="roundRect">
            <a:avLst>
              <a:gd name="adj" fmla="val 1008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Rank-k Compression Scheme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967599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25186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as Sum of Rank-1 Matrices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87680" y="1523256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SVD expresses A as sum of r rank-1 matrices (r = rank(A)):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9766" y="2468977"/>
            <a:ext cx="4124325" cy="947142"/>
          </a:xfrm>
          <a:prstGeom prst="roundRect">
            <a:avLst>
              <a:gd name="adj" fmla="val 3174"/>
            </a:avLst>
          </a:prstGeom>
          <a:solidFill>
            <a:srgbClr val="FFF3C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4825" y="2551531"/>
            <a:ext cx="395420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Truncation Strategy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04825" y="2757211"/>
            <a:ext cx="395420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first </a:t>
            </a: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terms (k &lt; r):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04825" y="2990574"/>
            <a:ext cx="3876675" cy="313581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4350" y="3068559"/>
            <a:ext cx="3954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Discards (r - k) least important components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38675" y="1910804"/>
            <a:ext cx="4124325" cy="1994297"/>
          </a:xfrm>
          <a:prstGeom prst="roundRect">
            <a:avLst>
              <a:gd name="adj" fmla="val 1910"/>
            </a:avLst>
          </a:prstGeom>
          <a:solidFill>
            <a:srgbClr val="E8F4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0" y="2034629"/>
            <a:ext cx="395420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Requirements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62500" y="2240310"/>
            <a:ext cx="3954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 × n values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62500" y="2440335"/>
            <a:ext cx="3954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k(m + n + 1) values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52975" y="2720124"/>
            <a:ext cx="3876675" cy="9336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U: m × k matrix</a:t>
            </a:r>
            <a:endParaRPr lang="en-US" sz="1000" dirty="0"/>
          </a:p>
          <a:p>
            <a:pPr marL="76200" indent="-762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Σ: k singular values</a:t>
            </a:r>
            <a:endParaRPr lang="en-US" sz="1000" dirty="0"/>
          </a:p>
          <a:p>
            <a:pPr marL="76200" indent="-762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k × n matrix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1000" y="4019401"/>
            <a:ext cx="8382000" cy="380405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4019401"/>
            <a:ext cx="0" cy="380405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4350" y="4114651"/>
            <a:ext cx="8316468" cy="18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Eckart-Young Theorem: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A_k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best possible rank-k approximation of A (minimizes reconstruction error)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81000" y="4514106"/>
            <a:ext cx="8382000" cy="347663"/>
          </a:xfrm>
          <a:prstGeom prst="rect">
            <a:avLst/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00050" y="4514106"/>
            <a:ext cx="0" cy="347662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4350" y="4609356"/>
            <a:ext cx="831646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Limit: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Compression only works if k &lt; mn/(m+n+1) ≈ n/2 for square images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9085" y="1764953"/>
            <a:ext cx="46458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III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249085" y="2136428"/>
            <a:ext cx="4645831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Analysis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619500" y="2041581"/>
            <a:ext cx="190500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49084" y="3359751"/>
            <a:ext cx="4645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vs. Fidelity Trade-offs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Quantitative Metrics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1000" y="1591062"/>
            <a:ext cx="2873722" cy="757882"/>
          </a:xfrm>
          <a:prstGeom prst="roundRect">
            <a:avLst>
              <a:gd name="adj" fmla="val 4684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5775" y="1679972"/>
            <a:ext cx="271745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57B9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Compression Ratio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5775" y="1817043"/>
            <a:ext cx="27174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Compressed / Original
</a:t>
            </a:r>
          </a:p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Lower is better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1000" y="2486114"/>
            <a:ext cx="2873722" cy="757882"/>
          </a:xfrm>
          <a:prstGeom prst="roundRect">
            <a:avLst>
              <a:gd name="adj" fmla="val 4427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5775" y="2588568"/>
            <a:ext cx="271745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394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Frobenius Error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5775" y="2819499"/>
            <a:ext cx="2717456" cy="151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Formula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7642" y="3502569"/>
            <a:ext cx="2847080" cy="718597"/>
          </a:xfrm>
          <a:prstGeom prst="roundRect">
            <a:avLst>
              <a:gd name="adj" fmla="val 5489"/>
            </a:avLst>
          </a:prstGeom>
          <a:solidFill>
            <a:srgbClr val="D4EDD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5775" y="3569784"/>
            <a:ext cx="271745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Information Retained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5775" y="3813690"/>
            <a:ext cx="2717456" cy="136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Higher is better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80250" y="3942003"/>
            <a:ext cx="5336828" cy="485775"/>
          </a:xfrm>
          <a:prstGeom prst="roundRect">
            <a:avLst>
              <a:gd name="adj" fmla="val 7843"/>
            </a:avLst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81503" y="3942003"/>
            <a:ext cx="27343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9999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Information Retained vs Compression Ratio</a:t>
            </a:r>
            <a:endParaRPr lang="en-US" sz="97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9999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(Chart: k values from 1 to 200)</a:t>
            </a:r>
            <a:endParaRPr lang="en-US" sz="9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536007-0592-65C4-2944-898938D37A66}"/>
                  </a:ext>
                </a:extLst>
              </p:cNvPr>
              <p:cNvSpPr txBox="1"/>
              <p:nvPr/>
            </p:nvSpPr>
            <p:spPr>
              <a:xfrm>
                <a:off x="1400525" y="2705960"/>
                <a:ext cx="1981200" cy="3781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9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 = </m:t>
                          </m:r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536007-0592-65C4-2944-898938D37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525" y="2705960"/>
                <a:ext cx="1981200" cy="378180"/>
              </a:xfrm>
              <a:prstGeom prst="rect">
                <a:avLst/>
              </a:prstGeom>
              <a:blipFill>
                <a:blip r:embed="rId3"/>
                <a:stretch>
                  <a:fillRect t="-129032" r="-12923" b="-190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74B1A18-B938-C791-8702-0D2C8F421964}"/>
                  </a:ext>
                </a:extLst>
              </p:cNvPr>
              <p:cNvSpPr txBox="1"/>
              <p:nvPr/>
            </p:nvSpPr>
            <p:spPr>
              <a:xfrm>
                <a:off x="2191450" y="3723484"/>
                <a:ext cx="400814" cy="322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9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9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9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74B1A18-B938-C791-8702-0D2C8F421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450" y="3723484"/>
                <a:ext cx="400814" cy="322332"/>
              </a:xfrm>
              <a:prstGeom prst="rect">
                <a:avLst/>
              </a:prstGeom>
              <a:blipFill>
                <a:blip r:embed="rId4"/>
                <a:stretch>
                  <a:fillRect l="-46970" t="-69811" r="-30303" b="-10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7BDF9F-8784-ECF2-0C1E-B15E1F35AABC}"/>
                  </a:ext>
                </a:extLst>
              </p:cNvPr>
              <p:cNvSpPr txBox="1"/>
              <p:nvPr/>
            </p:nvSpPr>
            <p:spPr>
              <a:xfrm>
                <a:off x="2057773" y="1820798"/>
                <a:ext cx="666703" cy="2243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7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 ∗ </m:t>
                              </m:r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7BDF9F-8784-ECF2-0C1E-B15E1F35A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773" y="1820798"/>
                <a:ext cx="666703" cy="224357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 descr="A graph with a blue line&#10;&#10;AI-generated content may be incorrect.">
            <a:extLst>
              <a:ext uri="{FF2B5EF4-FFF2-40B4-BE49-F238E27FC236}">
                <a16:creationId xmlns:a16="http://schemas.microsoft.com/office/drawing/2014/main" id="{D52D3231-95CC-F47C-3933-A0DE01833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7398" y="530595"/>
            <a:ext cx="5002532" cy="30015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06177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Results: 512x512 Image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9562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4548188"/>
            <a:ext cx="2717750" cy="295275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4548188"/>
            <a:ext cx="0" cy="295275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1904" y="4552950"/>
            <a:ext cx="2577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 (k=50):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5:1 compression, 99.6% information retained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13050" y="4476750"/>
            <a:ext cx="2717750" cy="43815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2100" y="4476750"/>
            <a:ext cx="0" cy="43815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27350" y="4552950"/>
            <a:ext cx="25777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Diminishing Returns: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k=50→100 doubles storage, adds only 0.2% of information retained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045101" y="4548188"/>
            <a:ext cx="2717750" cy="295275"/>
          </a:xfrm>
          <a:prstGeom prst="rect">
            <a:avLst/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64151" y="4548188"/>
            <a:ext cx="0" cy="295275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59401" y="4624388"/>
            <a:ext cx="2577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(k≈255):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compression benefit beyond this</a:t>
            </a:r>
            <a:endParaRPr lang="en-US" sz="750" dirty="0"/>
          </a:p>
        </p:txBody>
      </p:sp>
      <p:pic>
        <p:nvPicPr>
          <p:cNvPr id="14" name="Picture 13" descr="A person holding a cup&#10;&#10;AI-generated content may be incorrect.">
            <a:extLst>
              <a:ext uri="{FF2B5EF4-FFF2-40B4-BE49-F238E27FC236}">
                <a16:creationId xmlns:a16="http://schemas.microsoft.com/office/drawing/2014/main" id="{BDDEB18C-A9F3-DA94-EBC9-9C0A90AFBD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09"/>
          <a:stretch>
            <a:fillRect/>
          </a:stretch>
        </p:blipFill>
        <p:spPr>
          <a:xfrm>
            <a:off x="-5080" y="1706880"/>
            <a:ext cx="9144000" cy="1779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3470" y="1764953"/>
            <a:ext cx="43370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IV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403470" y="2136428"/>
            <a:ext cx="433706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Analysis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619500" y="2041178"/>
            <a:ext cx="1905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03470" y="3149798"/>
            <a:ext cx="4337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Inspection &amp; Image Quality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Quality Assessment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06289"/>
            <a:ext cx="351746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SVD Works for Images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1807220"/>
            <a:ext cx="3448496" cy="719138"/>
          </a:xfrm>
          <a:prstGeom prst="roundRect">
            <a:avLst>
              <a:gd name="adj" fmla="val 529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1902470"/>
            <a:ext cx="33231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 Value Decay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6250" y="2116782"/>
            <a:ext cx="33231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images show rapid exponential decay in singular values → information highly concentrated in first few components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697807"/>
            <a:ext cx="3448496" cy="895350"/>
          </a:xfrm>
          <a:prstGeom prst="roundRect">
            <a:avLst>
              <a:gd name="adj" fmla="val 4255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775" y="2802582"/>
            <a:ext cx="33037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Image:</a:t>
            </a:r>
            <a:endParaRPr lang="en-US" sz="825" dirty="0"/>
          </a:p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large σ values + long tail ≈ 0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85775" y="3174057"/>
            <a:ext cx="33037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Noise:</a:t>
            </a: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flat σ spectrum (not compressible)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3764607"/>
            <a:ext cx="3448496" cy="438150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764607"/>
            <a:ext cx="0" cy="43815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5300" y="3840807"/>
            <a:ext cx="33231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Truncating tail removes high-frequency noise → SVD doubles as denoising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00946" y="1391989"/>
            <a:ext cx="485729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Image Quality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4015234" y="1645295"/>
            <a:ext cx="0" cy="338137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24771" y="1664345"/>
            <a:ext cx="473099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124771" y="1840557"/>
            <a:ext cx="4730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gradient; barely recognizable structure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015234" y="2050107"/>
            <a:ext cx="0" cy="338137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24771" y="2069157"/>
            <a:ext cx="473099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10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124771" y="2245370"/>
            <a:ext cx="4730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"Ghostly" with heavy distortion; main structure vaguely visible; clear artifacts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72371" y="2454920"/>
            <a:ext cx="4790629" cy="490538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986659" y="2454920"/>
            <a:ext cx="0" cy="490538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77146" y="2550170"/>
            <a:ext cx="47018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50 ⭐ OPTIMAL SWEET SPOT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077146" y="2726382"/>
            <a:ext cx="4701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"Visually almost perfect"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sharp structure and lighting; fine textures slightly blurred but acceptable quality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015234" y="3012132"/>
            <a:ext cx="0" cy="338137"/>
          </a:xfrm>
          <a:prstGeom prst="line">
            <a:avLst/>
          </a:prstGeom>
          <a:noFill/>
          <a:ln w="28575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24771" y="3031182"/>
            <a:ext cx="473099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100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124771" y="3207395"/>
            <a:ext cx="4730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indistinguishable from original; minimal improvement over k=50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15234" y="3416945"/>
            <a:ext cx="0" cy="338138"/>
          </a:xfrm>
          <a:prstGeom prst="line">
            <a:avLst/>
          </a:prstGeom>
          <a:noFill/>
          <a:ln w="28575">
            <a:solidFill>
              <a:srgbClr val="1A4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24771" y="3435995"/>
            <a:ext cx="473099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512 (Original)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124771" y="3612207"/>
            <a:ext cx="4730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reconstruction; zero error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000946" y="3878907"/>
            <a:ext cx="4762054" cy="438150"/>
          </a:xfrm>
          <a:prstGeom prst="roundRect">
            <a:avLst>
              <a:gd name="adj" fmla="val 8696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077146" y="3955107"/>
            <a:ext cx="47018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Visual quality mirrors quantitative metrics — sweet spot at k=50 where diminishing returns begin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526" y="1764953"/>
            <a:ext cx="58669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V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38526" y="2136428"/>
            <a:ext cx="5866948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619500" y="2060228"/>
            <a:ext cx="190500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38526" y="2736610"/>
            <a:ext cx="5866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Images &amp; Comparative Analysis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 Color (RGB) Images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967010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887587"/>
            <a:ext cx="418738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Per-Channel SVD Methodology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2188518"/>
            <a:ext cx="4105275" cy="1023342"/>
          </a:xfrm>
          <a:prstGeom prst="roundRect">
            <a:avLst>
              <a:gd name="adj" fmla="val 372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283768"/>
            <a:ext cx="39930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Split: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m×n×3 → three m×n matrices (R, G, B)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6250" y="2498080"/>
            <a:ext cx="39930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Compress: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Apply rank-k SVD to each channel independently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76250" y="2712393"/>
            <a:ext cx="3993071" cy="18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Clip: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np.clip(A, 0, 255) for valid pixel range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76250" y="2959447"/>
            <a:ext cx="39930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Recombine: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Stack R, G, B → final m×n×3 image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3383310"/>
            <a:ext cx="4105275" cy="438150"/>
          </a:xfrm>
          <a:prstGeom prst="rect">
            <a:avLst/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3383310"/>
            <a:ext cx="0" cy="4381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5300" y="3459510"/>
            <a:ext cx="39930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Clipping is mandatory. At low k, reconstructed values can be negative or &gt;255, causing severe artifacts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57725" y="1145679"/>
            <a:ext cx="418738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Cost &amp; Limitations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57725" y="1446609"/>
            <a:ext cx="4105275" cy="881063"/>
          </a:xfrm>
          <a:prstGeom prst="roundRect">
            <a:avLst>
              <a:gd name="adj" fmla="val 4324"/>
            </a:avLst>
          </a:prstGeom>
          <a:solidFill>
            <a:srgbClr val="FFF3C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0" y="1551384"/>
            <a:ext cx="3973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Storage: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700016" y="1826418"/>
            <a:ext cx="3895725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500" y="1887140"/>
            <a:ext cx="3973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25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Rank-k storage for RGB requires 3x the storage of Rank-k for Grayscale</a:t>
            </a:r>
          </a:p>
        </p:txBody>
      </p:sp>
      <p:sp>
        <p:nvSpPr>
          <p:cNvPr id="18" name="Text 16"/>
          <p:cNvSpPr/>
          <p:nvPr/>
        </p:nvSpPr>
        <p:spPr>
          <a:xfrm>
            <a:off x="4657725" y="2518172"/>
            <a:ext cx="418738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657725" y="2819102"/>
            <a:ext cx="4105275" cy="112901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Inefficient: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Ignores high correlation between R, G, B channels</a:t>
            </a:r>
            <a:endParaRPr lang="en-US" sz="1350" dirty="0"/>
          </a:p>
          <a:p>
            <a:pPr marL="76200" indent="-762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eye less sensitive to chrominance → aggressive compression possible on color channels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6608" y="1764953"/>
            <a:ext cx="32707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VI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936608" y="2136428"/>
            <a:ext cx="327078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Synthesis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619500" y="2041178"/>
            <a:ext cx="190500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36608" y="3316349"/>
            <a:ext cx="327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Research Question Answered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498277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Answering the Research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977897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178719"/>
            <a:ext cx="8382000" cy="600075"/>
          </a:xfrm>
          <a:prstGeom prst="roundRect">
            <a:avLst>
              <a:gd name="adj" fmla="val 6349"/>
            </a:avLst>
          </a:prstGeom>
          <a:solidFill>
            <a:srgbClr val="E8F4F8"/>
          </a:solidFill>
          <a:ln w="19050">
            <a:solidFill>
              <a:srgbClr val="457B9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293019"/>
            <a:ext cx="83164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effectively can SVD-based compression reduce image storage requirements while maintaining acceptable visual quality, and what are the quantitative and qualitative trade-offs?"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1874044"/>
            <a:ext cx="8382000" cy="752475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9575" y="1874044"/>
            <a:ext cx="0" cy="752475"/>
          </a:xfrm>
          <a:prstGeom prst="line">
            <a:avLst/>
          </a:prstGeom>
          <a:noFill/>
          <a:ln w="571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2450" y="1988344"/>
            <a:ext cx="8258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Finding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2450" y="2197894"/>
            <a:ext cx="82581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SVD-based compression is </a:t>
            </a: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demonstrably effective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natural images. Effectiveness derives directly from low-rank structure where vast majority of information is concentrated in first few singular values.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721768"/>
            <a:ext cx="4133850" cy="832396"/>
          </a:xfrm>
          <a:prstGeom prst="roundRect">
            <a:avLst>
              <a:gd name="adj" fmla="val 4684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775" y="2826544"/>
            <a:ext cx="400278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Trade-Off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5775" y="3001714"/>
            <a:ext cx="40027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cost scales </a:t>
            </a: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linearly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k</a:t>
            </a:r>
            <a:endParaRPr lang="en-US" sz="75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 follows </a:t>
            </a:r>
            <a:endParaRPr lang="en-US" sz="75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decay curve</a:t>
            </a:r>
            <a:endParaRPr lang="en-US" sz="75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diminishing returns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29150" y="2721769"/>
            <a:ext cx="4133850" cy="813346"/>
          </a:xfrm>
          <a:prstGeom prst="roundRect">
            <a:avLst>
              <a:gd name="adj" fmla="val 4684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33925" y="2826544"/>
            <a:ext cx="400278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Operating Point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33925" y="3001714"/>
            <a:ext cx="40027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50: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5:1 compression</a:t>
            </a:r>
            <a:endParaRPr lang="en-US" sz="75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information retained</a:t>
            </a:r>
            <a:endParaRPr lang="en-US" sz="75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"Visually almost perfect"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3630364"/>
            <a:ext cx="8382000" cy="347663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630364"/>
            <a:ext cx="0" cy="347662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4350" y="3725614"/>
            <a:ext cx="831646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Achievement: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SVD from scratch using QR Algorithm (iterative eigenvalue solver) + Householder Reflections (QR decomposition) + stable U-V linking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09248" y="4073276"/>
            <a:ext cx="8353752" cy="43815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00050" y="4073276"/>
            <a:ext cx="0" cy="438150"/>
          </a:xfrm>
          <a:prstGeom prst="line">
            <a:avLst/>
          </a:prstGeom>
          <a:noFill/>
          <a:ln w="381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5775" y="4214067"/>
            <a:ext cx="48223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Exceptional analytical tool for understanding image structure and information distribution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67800" y="0"/>
            <a:ext cx="76200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153841"/>
            <a:ext cx="38100" cy="293191"/>
          </a:xfrm>
          <a:prstGeom prst="roundRect">
            <a:avLst>
              <a:gd name="adj" fmla="val 50000"/>
            </a:avLst>
          </a:prstGeom>
          <a:solidFill>
            <a:srgbClr val="457B9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2153841"/>
            <a:ext cx="49083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shift strategies in QR algorithm for faster convergence; explore sparse matrix techniques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523232"/>
            <a:ext cx="38100" cy="293191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2523232"/>
            <a:ext cx="49083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Compression: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Auto-determine optimal k based on target quality or compression ratio; region-specific k values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893219"/>
            <a:ext cx="38100" cy="293191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" y="2893219"/>
            <a:ext cx="49083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Benchmarking: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Systematic comparison with JPEG, PNG, WebP across diverse datasets and quality metrics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478810" y="1901577"/>
            <a:ext cx="3284190" cy="1905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0440" y="2073027"/>
            <a:ext cx="1680782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33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45968" y="2445544"/>
            <a:ext cx="33498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78810" y="2797969"/>
            <a:ext cx="3284190" cy="619125"/>
          </a:xfrm>
          <a:prstGeom prst="roundRect">
            <a:avLst>
              <a:gd name="adj" fmla="val 615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43123" y="2893219"/>
            <a:ext cx="31555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CSI 401 Numerical Methods
</a:t>
            </a: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Fall 2025 · Project Code: Python
</a:t>
            </a: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 at Albany, SUNY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78810" y="3512344"/>
            <a:ext cx="3284190" cy="295275"/>
          </a:xfrm>
          <a:prstGeom prst="roundRect">
            <a:avLst>
              <a:gd name="adj" fmla="val 1290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23692" y="3588544"/>
            <a:ext cx="31944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Achievement:</a:t>
            </a: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SVD implementation without NumPy SVD function.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1153</Words>
  <Application>Microsoft Office PowerPoint</Application>
  <PresentationFormat>On-screen Show (16:9)</PresentationFormat>
  <Paragraphs>176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Noboa, David A</cp:lastModifiedBy>
  <cp:revision>5</cp:revision>
  <dcterms:created xsi:type="dcterms:W3CDTF">2025-12-04T23:01:55Z</dcterms:created>
  <dcterms:modified xsi:type="dcterms:W3CDTF">2025-12-07T02:20:46Z</dcterms:modified>
</cp:coreProperties>
</file>